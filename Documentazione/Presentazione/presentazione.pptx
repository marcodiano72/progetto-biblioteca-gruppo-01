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9"/>
  </p:normalViewPr>
  <p:slideViewPr>
    <p:cSldViewPr snapToGrid="0" snapToObjects="1">
      <p:cViewPr varScale="1">
        <p:scale>
          <a:sx n="102" d="100"/>
          <a:sy n="102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Diagramma%20delle%20classi.png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45720" cy="685800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800000">
            <a:off x="914400" y="1828800"/>
            <a:ext cx="1828800" cy="1828800"/>
          </a:xfrm>
          <a:prstGeom prst="hexagon">
            <a:avLst/>
          </a:prstGeom>
          <a:noFill/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1851660"/>
            <a:ext cx="6939720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0FFFF"/>
                </a:solidFill>
                <a:latin typeface="Arial Black"/>
              </a:defRPr>
            </a:pPr>
            <a:r>
              <a:rPr lang="it-IT" dirty="0"/>
              <a:t>BIBLIOTECA 2.0</a:t>
            </a:r>
            <a:br>
              <a:rPr dirty="0"/>
            </a:br>
            <a:r>
              <a:rPr lang="it-IT" dirty="0"/>
              <a:t>PROGETTO IDS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370470" y="3790652"/>
            <a:ext cx="5212581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FFFF"/>
                </a:solidFill>
              </a:defRPr>
            </a:pPr>
            <a:r>
              <a:rPr lang="it-IT" dirty="0"/>
              <a:t>Software realizzato dal Gruppo01: 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solidFill>
                  <a:srgbClr val="00FFFF"/>
                </a:solidFill>
              </a:defRPr>
            </a:pPr>
            <a:r>
              <a:rPr lang="it-IT" dirty="0" err="1"/>
              <a:t>Azzato</a:t>
            </a:r>
            <a:r>
              <a:rPr lang="it-IT" dirty="0"/>
              <a:t> Giovanni Maria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solidFill>
                  <a:srgbClr val="00FFFF"/>
                </a:solidFill>
              </a:defRPr>
            </a:pPr>
            <a:r>
              <a:rPr lang="it-IT" dirty="0" err="1"/>
              <a:t>Azzato</a:t>
            </a:r>
            <a:r>
              <a:rPr lang="it-IT" dirty="0"/>
              <a:t> Nicola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solidFill>
                  <a:srgbClr val="00FFFF"/>
                </a:solidFill>
              </a:defRPr>
            </a:pPr>
            <a:r>
              <a:rPr lang="it-IT" dirty="0"/>
              <a:t>Cucciniello Mario</a:t>
            </a:r>
          </a:p>
          <a:p>
            <a:pPr marL="457200" indent="-457200">
              <a:buFont typeface="Arial" panose="020B0604020202020204" pitchFamily="34" charset="0"/>
              <a:buChar char="•"/>
              <a:defRPr sz="2800">
                <a:solidFill>
                  <a:srgbClr val="00FFFF"/>
                </a:solidFill>
              </a:defRPr>
            </a:pPr>
            <a:r>
              <a:rPr lang="it-IT" dirty="0" err="1"/>
              <a:t>Dianò</a:t>
            </a:r>
            <a:r>
              <a:rPr lang="it-IT" dirty="0"/>
              <a:t> Marco Michele</a:t>
            </a:r>
            <a:endParaRPr dirty="0"/>
          </a:p>
        </p:txBody>
      </p:sp>
      <p:pic>
        <p:nvPicPr>
          <p:cNvPr id="9" name="Immagine 8" descr="Immagine che contiene emblema, simbolo, vestiti, cresta&#10;&#10;Il contenuto generato dall'IA potrebbe non essere corretto.">
            <a:extLst>
              <a:ext uri="{FF2B5EF4-FFF2-40B4-BE49-F238E27FC236}">
                <a16:creationId xmlns:a16="http://schemas.microsoft.com/office/drawing/2014/main" id="{0FD3D31C-9729-AB22-69E7-79DBB2A57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40" y="408537"/>
            <a:ext cx="1938992" cy="1938992"/>
          </a:xfrm>
          <a:prstGeom prst="rect">
            <a:avLst/>
          </a:prstGeom>
        </p:spPr>
      </p:pic>
      <p:pic>
        <p:nvPicPr>
          <p:cNvPr id="11" name="Immagine 10" descr="Immagine che contiene Carattere, logo, Elementi grafici, bianco&#10;&#10;Il contenuto generato dall'IA potrebbe non essere corretto.">
            <a:extLst>
              <a:ext uri="{FF2B5EF4-FFF2-40B4-BE49-F238E27FC236}">
                <a16:creationId xmlns:a16="http://schemas.microsoft.com/office/drawing/2014/main" id="{A4F95489-2BF3-D32E-005B-489CFFB5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060" b="32321"/>
          <a:stretch>
            <a:fillRect/>
          </a:stretch>
        </p:blipFill>
        <p:spPr>
          <a:xfrm>
            <a:off x="95096" y="6037421"/>
            <a:ext cx="1638607" cy="55086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C01A6FD-2CE5-A68B-F77F-F9B41D2A0ECE}"/>
              </a:ext>
            </a:extLst>
          </p:cNvPr>
          <p:cNvSpPr txBox="1"/>
          <p:nvPr/>
        </p:nvSpPr>
        <p:spPr>
          <a:xfrm>
            <a:off x="11336562" y="6280510"/>
            <a:ext cx="760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 / 10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76607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rapezoid 2"/>
          <p:cNvSpPr/>
          <p:nvPr/>
        </p:nvSpPr>
        <p:spPr>
          <a:xfrm>
            <a:off x="0" y="283641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288" y="512505"/>
            <a:ext cx="54445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IL SOFTWARE IN BREVE…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9341" y="621792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lang="it-IT" dirty="0"/>
              <a:t>2</a:t>
            </a:r>
            <a:r>
              <a:rPr dirty="0"/>
              <a:t>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491831" y="6021242"/>
            <a:ext cx="1390960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309211" y="6021241"/>
            <a:ext cx="1390960" cy="240864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F406DA9-BD8C-8CE0-9703-8B498456E61F}"/>
              </a:ext>
            </a:extLst>
          </p:cNvPr>
          <p:cNvSpPr txBox="1"/>
          <p:nvPr/>
        </p:nvSpPr>
        <p:spPr>
          <a:xfrm>
            <a:off x="457200" y="1777296"/>
            <a:ext cx="11277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Abbiamo realizzato un software in grado di gestire una biblioteca digitale, permettendo di introdurre, modificare e rimuovere libri e studenti e di registrare prestiti e ovviamente restituzioni. L’accesso avviene tramite credenziali protette da parte dei quattro bibliotecari e ogni modifica (sia al catalogo dei libri che all’elenco degli studenti e dei prestiti) viene salvata su file.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Ricordiamo che ogni studente può avere all’attivo massimo tre prestiti contemporaneamente e in caso di restituzione in ritardo abbiamo programmato tre diverse fasce temporali di sanzione.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Ogni libro è caratterizzato da un titolo, dall’autore, dal codice ISBN, dall’anno di pubblicazione e dal numero di copie disponibili (che viene aggiornato ad ogni prestito/restituzione); al contrario, ogni studente possiede un cognome, un nome, una email (strettamente istituzionale, del tipo ‘’…@</a:t>
            </a:r>
            <a:r>
              <a:rPr lang="it-IT" dirty="0" err="1">
                <a:solidFill>
                  <a:schemeClr val="bg1"/>
                </a:solidFill>
              </a:rPr>
              <a:t>studenti.unisa.it</a:t>
            </a:r>
            <a:r>
              <a:rPr lang="it-IT" dirty="0">
                <a:solidFill>
                  <a:schemeClr val="bg1"/>
                </a:solidFill>
              </a:rPr>
              <a:t>’’) ed una matricola identificativa.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Ma ora procediamo entrando nel vivo dell’organizzazione del software…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rapezoid 2"/>
          <p:cNvSpPr/>
          <p:nvPr/>
        </p:nvSpPr>
        <p:spPr>
          <a:xfrm>
            <a:off x="0" y="229128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3385" y="512505"/>
            <a:ext cx="25795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CASI D’USO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9341" y="621792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lang="it-IT" dirty="0"/>
              <a:t>3</a:t>
            </a:r>
            <a:r>
              <a:rPr dirty="0"/>
              <a:t>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572000" y="6097488"/>
            <a:ext cx="1390960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29042" y="6093547"/>
            <a:ext cx="1390960" cy="240864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D8F7D59-DCF7-3841-96F5-D189335B5697}"/>
              </a:ext>
            </a:extLst>
          </p:cNvPr>
          <p:cNvSpPr txBox="1"/>
          <p:nvPr/>
        </p:nvSpPr>
        <p:spPr>
          <a:xfrm>
            <a:off x="416079" y="1816299"/>
            <a:ext cx="11247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Come sappiamo, i casi d’uso altro non sono che descrizioni dei modi in cui gli utenti interagiscono con un sistema per svolgere un determinato compito o raggiungere un preciso obiettivo. 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Noi abbiamo individuato circa una decina di situazioni chiave che rispecchiano appieno la definizione di caso d’uso: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Aggiungi, modifica, cancella e ricerca un libro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Aggiungi, modifica, cancella e ricerca uno studente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Registra un prestito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Effettua una restituzione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Salvataggio su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288033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rapezoid 2"/>
          <p:cNvSpPr/>
          <p:nvPr/>
        </p:nvSpPr>
        <p:spPr>
          <a:xfrm>
            <a:off x="0" y="251420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4778" y="507672"/>
            <a:ext cx="41056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CASI D’USO: LIBRO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9341" y="621792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lang="it-IT" dirty="0"/>
              <a:t>4</a:t>
            </a:r>
            <a:r>
              <a:rPr dirty="0"/>
              <a:t>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506919" y="6355161"/>
            <a:ext cx="1390960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94123" y="6355161"/>
            <a:ext cx="1390960" cy="240863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F14F76F-84DB-5EDC-EEAF-20F52D02D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75" y="1591331"/>
            <a:ext cx="3934644" cy="4501854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83177CB-F91A-8449-C073-851120A29B7A}"/>
              </a:ext>
            </a:extLst>
          </p:cNvPr>
          <p:cNvSpPr txBox="1"/>
          <p:nvPr/>
        </p:nvSpPr>
        <p:spPr>
          <a:xfrm>
            <a:off x="4710151" y="1568870"/>
            <a:ext cx="59498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Qui abbiamo condensato tutti quei casi d’uso che riguardano l’oggetto libro.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Possiamo notare come la maggior parte di essi presenta come precondizione l’effettiva presenza del libro in catalogo, e come tutti e quattro richiedono che l’utente (il bibliotecario) abbia effettuato l’accesso alla piattaforma tramite credenziali.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Inoltre, la modifica, la cancellazione e la ricerca di un libro possono originare un flusso degli eventi alternativo, ovvero l’effettiva mancanza del libro all’interno del catalogo.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Mentre, per quanto riguarda l’aggiunta di un libro all’interno del catalogo, può presentarsi come evento alternativo il fatto che il libro possa essere già presente nel catalogo: ciò ovviamente innesca l’aumento delle copie disponibili.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rapezoid 2"/>
          <p:cNvSpPr/>
          <p:nvPr/>
        </p:nvSpPr>
        <p:spPr>
          <a:xfrm>
            <a:off x="0" y="191830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36464"/>
            <a:ext cx="50417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CASI D’USO: STUDENTE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9266" y="6217920"/>
            <a:ext cx="6479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dirty="0"/>
              <a:t> </a:t>
            </a:r>
            <a:r>
              <a:rPr lang="it-IT" dirty="0"/>
              <a:t>5</a:t>
            </a:r>
            <a:r>
              <a:rPr dirty="0"/>
              <a:t>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419601" y="6425307"/>
            <a:ext cx="1403486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368914" y="6434256"/>
            <a:ext cx="1403486" cy="240864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84664C6-19E9-8E5B-97D0-78BE5F1F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44" y="1480939"/>
            <a:ext cx="3608288" cy="4752537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3DE05C1-FA8C-34FE-0FFC-05E4C6737101}"/>
              </a:ext>
            </a:extLst>
          </p:cNvPr>
          <p:cNvSpPr txBox="1"/>
          <p:nvPr/>
        </p:nvSpPr>
        <p:spPr>
          <a:xfrm>
            <a:off x="4572000" y="1480939"/>
            <a:ext cx="7315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Qui abbiamo condensato tutti quei casi d’uso che riguardano l’oggetto studente.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Possiamo notare come la maggior parte di essi presenta come precondizione l’effettiva presenza dello studente in elenco e come tutti e quattro richiedono che l’utente (il bibliotecario) abbia effettuato l’accesso alla piattaforma tramite credenziali.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Per quanto riguarda l’aggiunta di uno studente abbiamo come precondizione l’iscrizione dello studente ad una istituzione universitaria; come flusso di eventi alternativi abbiamo il fatto che lo studente possa essere già presente in elenco o la mancanza di una mail valida (non del tipo istituzionale) 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Per quanto riguarda la modifica, la cancellazione e la ricerca di uno studente, come evento alternativo troviamo la mancanza dello studente all’interno dell’elenco. 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rapezoid 2"/>
          <p:cNvSpPr/>
          <p:nvPr/>
        </p:nvSpPr>
        <p:spPr>
          <a:xfrm>
            <a:off x="0" y="208114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68442" y="464366"/>
            <a:ext cx="79966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CASI D’USO: PRESTITO/RESTITUZIONE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9341" y="621792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lang="it-IT" dirty="0"/>
              <a:t>6</a:t>
            </a:r>
            <a:r>
              <a:rPr dirty="0"/>
              <a:t>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466780" y="6434257"/>
            <a:ext cx="1416012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309210" y="6400799"/>
            <a:ext cx="1416012" cy="307777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A10459D-E46E-A2D4-8731-48AD52EF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28384"/>
            <a:ext cx="4455446" cy="45895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A2209B3-64FB-D8DB-C2B5-AC5EF2D4E8F7}"/>
              </a:ext>
            </a:extLst>
          </p:cNvPr>
          <p:cNvSpPr txBox="1"/>
          <p:nvPr/>
        </p:nvSpPr>
        <p:spPr>
          <a:xfrm>
            <a:off x="4907225" y="1513508"/>
            <a:ext cx="71157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Qui abbiamo condensato i casi d’uso che riguardano i prestiti, le restituzioni e la pratica di salvataggio su file: possiamo notare come tutti e tre presentano come precondizione l’aver effettuato il login tramite credenziali da parte del bibliotecario.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Per quanto riguarda la registrazione di un prestito, abbiamo come precondizione la presenza (e relativa disponibilità) del libro in catalogo e la presenza dello studente in elenco, correlata alla sua abilitazione ai prestiti; come flusso di eventi alternativi, troviamo la mancanza del libro in catalogo, e la mancanza dello studente in elenco  (o il suo essere privo di abilitazione a causa di sanzioni o presenza di tre libri già in prestito).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Per quanto riguarda la registrazione di una restituzione, abbiamo come precondizione la presenza in catalogo di un libro in prestito ad un determinato studente; come flusso di eventi alternativi, troviamo la mancanza del libro in prestito e l’inserimento di dati errati nei campi dove vengono richiesti.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endParaRPr lang="it-IT" dirty="0">
              <a:solidFill>
                <a:schemeClr val="bg1"/>
              </a:solidFill>
            </a:endParaRPr>
          </a:p>
          <a:p>
            <a:endParaRPr lang="it-IT" dirty="0">
              <a:solidFill>
                <a:schemeClr val="bg1"/>
              </a:solidFill>
            </a:endParaRPr>
          </a:p>
          <a:p>
            <a:endParaRPr lang="it-IT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rapezoid 2"/>
          <p:cNvSpPr/>
          <p:nvPr/>
        </p:nvSpPr>
        <p:spPr>
          <a:xfrm>
            <a:off x="0" y="211872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7609"/>
            <a:ext cx="58456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DIAGRAMMA DELLE CLASSI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9341" y="621792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dirty="0"/>
              <a:t>7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572000" y="6130945"/>
            <a:ext cx="1403486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302839" y="6130945"/>
            <a:ext cx="1403486" cy="240864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944E308-47A6-CB64-1FFB-ED093F9DD389}"/>
              </a:ext>
            </a:extLst>
          </p:cNvPr>
          <p:cNvSpPr txBox="1"/>
          <p:nvPr/>
        </p:nvSpPr>
        <p:spPr>
          <a:xfrm>
            <a:off x="457200" y="1645920"/>
            <a:ext cx="112471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Il diagramma delle classi, per un software orientato agli oggetti, rappresenta il cuore del progetto. Esso descrive il sistema mettendo a fuoco i diversi tipi di oggetti al suo interno ed i tipi di relazioni che sussistono tra di loro. </a:t>
            </a:r>
          </a:p>
          <a:p>
            <a:r>
              <a:rPr lang="it-IT" dirty="0">
                <a:solidFill>
                  <a:schemeClr val="bg1"/>
                </a:solidFill>
              </a:rPr>
              <a:t>Permette anche di avere un quadro generale sui metodi e sugli attributi delle classi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Nel nostro software, abbiamo effettuato una serie di scelte per garantire una progettazione affidabile e duratura: abbiamo individuato e quindi realizzato circa 5 classi chiave ed altrettante interfacce che permettono la comunicazione con l’utente.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Libro, Studente, Prestito, Catalogo, Elenco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Menu_bibliotecaController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GestioneLibriController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GestioneStudenteController</a:t>
            </a:r>
            <a:r>
              <a:rPr lang="it-IT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Interfaccia_nuovoPrestitoController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VisualizzaLibro_viewController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VisualizzaStudente_viewController</a:t>
            </a:r>
            <a:endParaRPr lang="it-IT" dirty="0">
              <a:solidFill>
                <a:schemeClr val="bg1"/>
              </a:solidFill>
            </a:endParaRPr>
          </a:p>
          <a:p>
            <a:endParaRPr lang="it-IT" dirty="0">
              <a:solidFill>
                <a:schemeClr val="bg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r"/>
            <a:r>
              <a:rPr lang="it-IT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Diagramma delle classi.png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rapezoid 2"/>
          <p:cNvSpPr/>
          <p:nvPr/>
        </p:nvSpPr>
        <p:spPr>
          <a:xfrm>
            <a:off x="0" y="248369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12505"/>
            <a:ext cx="58456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DIAGRAMMA DELLE CLASSI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9341" y="621792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dirty="0"/>
              <a:t>8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358487" y="6405265"/>
            <a:ext cx="1428538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37391" y="6338695"/>
            <a:ext cx="1428538" cy="307778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D94AC55-CEB7-E26A-E700-9C062881F641}"/>
              </a:ext>
            </a:extLst>
          </p:cNvPr>
          <p:cNvSpPr txBox="1"/>
          <p:nvPr/>
        </p:nvSpPr>
        <p:spPr>
          <a:xfrm>
            <a:off x="457200" y="1669719"/>
            <a:ext cx="1123375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associazioni tra entità sono accurate: la classe Prestito presenta riferimenti alla classe Libro e alla classe Studente, la classe Catalogo gestisce una collezione di oggetti Libro mentre la classe Elenco gestisce una collezione di oggetti Studente; i controller dipendono dalle classi modello ma non viceversa, rispettando il principio di dipendenza verso l’interno del dominio.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Ogni finestra presenta il proprio controller (</a:t>
            </a:r>
            <a:r>
              <a:rPr lang="it-IT" dirty="0" err="1">
                <a:solidFill>
                  <a:schemeClr val="bg1"/>
                </a:solidFill>
              </a:rPr>
              <a:t>GestioneLibriController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GestioneStudentiController</a:t>
            </a:r>
            <a:r>
              <a:rPr lang="it-IT" dirty="0">
                <a:solidFill>
                  <a:schemeClr val="bg1"/>
                </a:solidFill>
              </a:rPr>
              <a:t>, etc.),</a:t>
            </a:r>
          </a:p>
          <a:p>
            <a:r>
              <a:rPr lang="it-IT" dirty="0">
                <a:solidFill>
                  <a:schemeClr val="bg1"/>
                </a:solidFill>
              </a:rPr>
              <a:t>con campi per i controlli FXML e metodi </a:t>
            </a:r>
            <a:r>
              <a:rPr lang="it-IT" dirty="0" err="1">
                <a:solidFill>
                  <a:schemeClr val="bg1"/>
                </a:solidFill>
              </a:rPr>
              <a:t>initialize</a:t>
            </a:r>
            <a:r>
              <a:rPr lang="it-IT" dirty="0">
                <a:solidFill>
                  <a:schemeClr val="bg1"/>
                </a:solidFill>
              </a:rPr>
              <a:t> e </a:t>
            </a:r>
            <a:r>
              <a:rPr lang="it-IT" dirty="0" err="1">
                <a:solidFill>
                  <a:schemeClr val="bg1"/>
                </a:solidFill>
              </a:rPr>
              <a:t>handler</a:t>
            </a:r>
            <a:r>
              <a:rPr lang="it-IT" dirty="0">
                <a:solidFill>
                  <a:schemeClr val="bg1"/>
                </a:solidFill>
              </a:rPr>
              <a:t> degli eventi: ognuno di essi riceve in genere un riferimento alle classi Catalogo o Elenco tramite metodi setter, quindi manipolano il dominio senza accedere direttamente a  strutture globali, una caratteristica molto utile per la fase di testing.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La coesione delle classi è alta (ogni classe ha una responsabilità ben definita); abbiamo inoltre seguito con cura l’ ‘’Open-</a:t>
            </a:r>
            <a:r>
              <a:rPr lang="it-IT" dirty="0" err="1">
                <a:solidFill>
                  <a:schemeClr val="bg1"/>
                </a:solidFill>
              </a:rPr>
              <a:t>Closed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Principle</a:t>
            </a:r>
            <a:r>
              <a:rPr lang="it-IT" dirty="0">
                <a:solidFill>
                  <a:schemeClr val="bg1"/>
                </a:solidFill>
              </a:rPr>
              <a:t>’’, perché i nostri moduli, le classi e le funzioni a loro associate risultano essere più propense all’estensione piuttosto che alla modifica. </a:t>
            </a:r>
          </a:p>
          <a:p>
            <a:endParaRPr lang="it-IT" dirty="0">
              <a:solidFill>
                <a:schemeClr val="bg1"/>
              </a:solidFill>
            </a:endParaRPr>
          </a:p>
          <a:p>
            <a:r>
              <a:rPr lang="it-IT" dirty="0">
                <a:solidFill>
                  <a:schemeClr val="bg1"/>
                </a:solidFill>
              </a:rPr>
              <a:t>Le nostre sono state anche scelte legate all’ ‘’Interface </a:t>
            </a:r>
            <a:r>
              <a:rPr lang="it-IT" dirty="0" err="1">
                <a:solidFill>
                  <a:schemeClr val="bg1"/>
                </a:solidFill>
              </a:rPr>
              <a:t>Segregation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Principle</a:t>
            </a:r>
            <a:r>
              <a:rPr lang="it-IT" dirty="0">
                <a:solidFill>
                  <a:schemeClr val="bg1"/>
                </a:solidFill>
              </a:rPr>
              <a:t>’’: abbiamo infatti deciso </a:t>
            </a:r>
            <a:r>
              <a:rPr lang="it-IT">
                <a:solidFill>
                  <a:schemeClr val="bg1"/>
                </a:solidFill>
              </a:rPr>
              <a:t>di utilizzare più </a:t>
            </a:r>
            <a:r>
              <a:rPr lang="it-IT" dirty="0">
                <a:solidFill>
                  <a:schemeClr val="bg1"/>
                </a:solidFill>
              </a:rPr>
              <a:t>interfacce specifiche per permettere di ridurre l’accoppiamento tra componenti e facilitando l’eventuale sostituzione di parti del sistema senza avere impatto sulle altre. 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1" cy="6857999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rapezoid 2"/>
          <p:cNvSpPr/>
          <p:nvPr/>
        </p:nvSpPr>
        <p:spPr>
          <a:xfrm>
            <a:off x="0" y="274320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12505"/>
            <a:ext cx="63006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ENTRANDO NEL DETTAGLIO…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9341" y="6217920"/>
            <a:ext cx="607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lang="it-IT" dirty="0"/>
              <a:t>9</a:t>
            </a:r>
            <a:r>
              <a:rPr dirty="0"/>
              <a:t>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479306" y="6396316"/>
            <a:ext cx="1403486" cy="240863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187287" y="6396316"/>
            <a:ext cx="1403486" cy="240863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BA8D84E-D5FE-4D1E-E763-8A66A9FED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204" y="1709182"/>
            <a:ext cx="2442662" cy="255191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9F6001D-24DF-2313-3FA3-8F33754A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35420"/>
            <a:ext cx="4754671" cy="1642003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CBC6FF2-F07A-078A-1CC7-35B4EE2FF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445" y="1979916"/>
            <a:ext cx="4742234" cy="153891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EF0DCFE2-4EDB-EEEB-B699-9206C3B6A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47485"/>
            <a:ext cx="5412406" cy="1841781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rapezoid 2"/>
          <p:cNvSpPr/>
          <p:nvPr/>
        </p:nvSpPr>
        <p:spPr>
          <a:xfrm>
            <a:off x="0" y="336769"/>
            <a:ext cx="9144000" cy="1097280"/>
          </a:xfrm>
          <a:prstGeom prst="trapezoid">
            <a:avLst/>
          </a:prstGeom>
          <a:solidFill>
            <a:srgbClr val="1E232D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12505"/>
            <a:ext cx="63006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432"/>
                </a:solidFill>
                <a:latin typeface="Consolas"/>
              </a:defRPr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ENTRANDO NEL DETTAGLIO…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87970" y="6217920"/>
            <a:ext cx="699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46E78"/>
                </a:solidFill>
              </a:defRPr>
            </a:pPr>
            <a:r>
              <a:rPr dirty="0"/>
              <a:t>10 / 1</a:t>
            </a:r>
            <a:r>
              <a:rPr lang="it-IT" dirty="0"/>
              <a:t>0</a:t>
            </a:r>
            <a:endParaRPr dirty="0"/>
          </a:p>
        </p:txBody>
      </p:sp>
      <p:sp>
        <p:nvSpPr>
          <p:cNvPr id="7" name="Rounded Rectangle 6">
            <a:hlinkClick r:id="" action="ppaction://hlinkshowjump?jump=previousslide"/>
          </p:cNvPr>
          <p:cNvSpPr/>
          <p:nvPr/>
        </p:nvSpPr>
        <p:spPr>
          <a:xfrm>
            <a:off x="4491832" y="6434258"/>
            <a:ext cx="1390960" cy="240862"/>
          </a:xfrm>
          <a:prstGeom prst="roundRect">
            <a:avLst/>
          </a:prstGeom>
          <a:solidFill>
            <a:srgbClr val="1E2832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FFFF"/>
                </a:solidFill>
              </a:defRPr>
            </a:pPr>
            <a:r>
              <a:rPr lang="it-IT" dirty="0"/>
              <a:t>SLIDE PRECEDENTE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309210" y="6434258"/>
            <a:ext cx="1390960" cy="240863"/>
          </a:xfrm>
          <a:prstGeom prst="roundRect">
            <a:avLst/>
          </a:prstGeom>
          <a:solidFill>
            <a:srgbClr val="281E1E"/>
          </a:solidFill>
          <a:ln>
            <a:solidFill>
              <a:srgbClr val="FF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432"/>
                </a:solidFill>
              </a:defRPr>
            </a:pPr>
            <a:r>
              <a:rPr lang="it-IT" dirty="0"/>
              <a:t>SLIDE SUCCESSIVA</a:t>
            </a:r>
            <a:endParaRPr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E70CEFE-4A5F-275A-3D21-14A33DC3C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74" y="2492632"/>
            <a:ext cx="6646101" cy="93636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CB2F646-EBD5-2612-D599-39E0448F3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47" y="4410947"/>
            <a:ext cx="5793553" cy="93833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665B355-EA2A-DC3C-3F9B-7D218D392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274" y="2211238"/>
            <a:ext cx="4498927" cy="3107102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1127</Words>
  <Application>Microsoft Macintosh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MARIO CUCCINIELLO</cp:lastModifiedBy>
  <cp:revision>10</cp:revision>
  <dcterms:created xsi:type="dcterms:W3CDTF">2013-01-27T09:14:16Z</dcterms:created>
  <dcterms:modified xsi:type="dcterms:W3CDTF">2025-12-18T18:00:31Z</dcterms:modified>
  <cp:category/>
</cp:coreProperties>
</file>